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128016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8FAFC"/>
                </a:solidFill>
              </a:rPr>
              <a:t>Signal Nine Sports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40080" y="219456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97316"/>
                </a:solidFill>
              </a:rPr>
              <a:t>产品功能报告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200400" y="2880360"/>
            <a:ext cx="2743200" cy="36576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301752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4A3B8"/>
                </a:solidFill>
              </a:rPr>
              <a:t>多运动体育数据平台 · 付费内容 · AI 预测 · 会员变现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0080" y="448056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4155"/>
                </a:solidFill>
              </a:rPr>
              <a:t>2026-04-03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54864" cy="50292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2004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F97316"/>
                </a:solidFill>
              </a:rPr>
              <a:t>OVERVIEW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4360" y="54864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8FAFC"/>
                </a:solidFill>
              </a:rPr>
              <a:t>产品概览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1920240" cy="1005840"/>
          </a:xfrm>
          <a:prstGeom prst="rect">
            <a:avLst/>
          </a:prstGeom>
          <a:solidFill>
            <a:srgbClr val="1E293B"/>
          </a:solidFill>
          <a:ln w="6350">
            <a:solidFill>
              <a:srgbClr val="33415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57200" y="1261872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97316"/>
                </a:solidFill>
              </a:rPr>
              <a:t>12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457200" y="178308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页面 / 路由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246120" y="1188720"/>
            <a:ext cx="1920240" cy="1005840"/>
          </a:xfrm>
          <a:prstGeom prst="rect">
            <a:avLst/>
          </a:prstGeom>
          <a:solidFill>
            <a:srgbClr val="1E293B"/>
          </a:solidFill>
          <a:ln w="6350">
            <a:solidFill>
              <a:srgbClr val="33415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246120" y="1261872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84CC16"/>
                </a:solidFill>
              </a:rPr>
              <a:t>3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3246120" y="178308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支持运动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035040" y="1188720"/>
            <a:ext cx="1920240" cy="1005840"/>
          </a:xfrm>
          <a:prstGeom prst="rect">
            <a:avLst/>
          </a:prstGeom>
          <a:solidFill>
            <a:srgbClr val="1E293B"/>
          </a:solidFill>
          <a:ln w="6350">
            <a:solidFill>
              <a:srgbClr val="33415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035040" y="1261872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D9488"/>
                </a:solidFill>
              </a:rPr>
              <a:t>24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6035040" y="178308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API 端点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2377440"/>
            <a:ext cx="1920240" cy="1005840"/>
          </a:xfrm>
          <a:prstGeom prst="rect">
            <a:avLst/>
          </a:prstGeom>
          <a:solidFill>
            <a:srgbClr val="1E293B"/>
          </a:solidFill>
          <a:ln w="6350">
            <a:solidFill>
              <a:srgbClr val="33415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57200" y="2450592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97316"/>
                </a:solidFill>
              </a:rPr>
              <a:t>3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457200" y="29718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语言支持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246120" y="2377440"/>
            <a:ext cx="1920240" cy="1005840"/>
          </a:xfrm>
          <a:prstGeom prst="rect">
            <a:avLst/>
          </a:prstGeom>
          <a:solidFill>
            <a:srgbClr val="1E293B"/>
          </a:solidFill>
          <a:ln w="6350">
            <a:solidFill>
              <a:srgbClr val="33415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3246120" y="2450592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84CC16"/>
                </a:solidFill>
              </a:rPr>
              <a:t>4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3246120" y="29718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用户角色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6035040" y="2377440"/>
            <a:ext cx="1920240" cy="1005840"/>
          </a:xfrm>
          <a:prstGeom prst="rect">
            <a:avLst/>
          </a:prstGeom>
          <a:solidFill>
            <a:srgbClr val="1E293B"/>
          </a:solidFill>
          <a:ln w="6350">
            <a:solidFill>
              <a:srgbClr val="33415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035040" y="2450592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D9488"/>
                </a:solidFill>
              </a:rPr>
              <a:t>3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6035040" y="29718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会员档位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</a:rPr>
              <a:t>Next.js 16 · React 19 · TypeScript · Tailwind CSS 4 · Prisma 6 · SQLite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54864" cy="50292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2004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F97316"/>
                </a:solidFill>
              </a:rPr>
              <a:t>LIVE &amp; DATABASE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4360" y="54864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8FAFC"/>
                </a:solidFill>
              </a:rPr>
              <a:t>实时赛事 · 体育数据库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143000"/>
            <a:ext cx="3931920" cy="3566160"/>
          </a:xfrm>
          <a:prstGeom prst="rect">
            <a:avLst/>
          </a:prstGeom>
          <a:solidFill>
            <a:srgbClr val="1E293B"/>
          </a:solidFill>
          <a:ln w="6350">
            <a:solidFill>
              <a:srgbClr val="33415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43000"/>
            <a:ext cx="45720" cy="356616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23444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8FAFC"/>
                </a:solidFill>
              </a:rPr>
              <a:t>实时比分板（3 项运动）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94360" y="1554480"/>
            <a:ext cx="3749040" cy="3035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94A3B8"/>
                </a:solidFill>
              </a:rPr>
              <a:t>足球 /live/football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94A3B8"/>
                </a:solidFill>
              </a:rPr>
              <a:t>篮球 /live/basketball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94A3B8"/>
                </a:solidFill>
              </a:rPr>
              <a:t>板球 /live/cricket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94A3B8"/>
                </a:solidFill>
              </a:rPr>
              <a:t>联赛 / 状态 / 排序筛选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94A3B8"/>
                </a:solidFill>
              </a:rPr>
              <a:t>实时比分、球队、赛况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94A3B8"/>
                </a:solidFill>
              </a:rPr>
              <a:t>支持 API-Sports 实时数据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94A3B8"/>
                </a:solidFill>
              </a:rPr>
              <a:t>Mock 数据降级保障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754880" y="1143000"/>
            <a:ext cx="3931920" cy="3566160"/>
          </a:xfrm>
          <a:prstGeom prst="rect">
            <a:avLst/>
          </a:prstGeom>
          <a:solidFill>
            <a:srgbClr val="1E293B"/>
          </a:solidFill>
          <a:ln w="6350">
            <a:solidFill>
              <a:srgbClr val="33415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143000"/>
            <a:ext cx="45720" cy="3566160"/>
          </a:xfrm>
          <a:prstGeom prst="rect">
            <a:avLst/>
          </a:prstGeom>
          <a:solidFill>
            <a:srgbClr val="84CC16"/>
          </a:solidFill>
          <a:ln w="12700">
            <a:solidFill>
              <a:srgbClr val="84CC1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92040" y="123444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8FAFC"/>
                </a:solidFill>
              </a:rPr>
              <a:t>体育数据库 /database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892040" y="1554480"/>
            <a:ext cx="3749040" cy="3035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94A3B8"/>
                </a:solidFill>
              </a:rPr>
              <a:t>足球 / 篮球 / 板球三运动切换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94A3B8"/>
                </a:solidFill>
              </a:rPr>
              <a:t>积分榜：排名、胜负平、积分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94A3B8"/>
                </a:solidFill>
              </a:rPr>
              <a:t>赛程：赛事安排与结果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94A3B8"/>
                </a:solidFill>
              </a:rPr>
              <a:t>球队：近期状态、主客场战绩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94A3B8"/>
                </a:solidFill>
              </a:rPr>
              <a:t>历史交锋（H2H）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94A3B8"/>
                </a:solidFill>
              </a:rPr>
              <a:t>板球专属：球队情报、联赛叙事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94A3B8"/>
                </a:solidFill>
              </a:rPr>
              <a:t>动态联赛筛选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54864" cy="50292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2004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F97316"/>
                </a:solidFill>
              </a:rPr>
              <a:t>CONTENT &amp; AI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4360" y="54864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8FAFC"/>
                </a:solidFill>
              </a:rPr>
              <a:t>付费内容 · AI 预测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143000"/>
            <a:ext cx="3931920" cy="3566160"/>
          </a:xfrm>
          <a:prstGeom prst="rect">
            <a:avLst/>
          </a:prstGeom>
          <a:solidFill>
            <a:srgbClr val="1E293B"/>
          </a:solidFill>
          <a:ln w="6350">
            <a:solidFill>
              <a:srgbClr val="33415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43000"/>
            <a:ext cx="45720" cy="356616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23444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8FAFC"/>
                </a:solidFill>
              </a:rPr>
              <a:t>付费分析文章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94360" y="1554480"/>
            <a:ext cx="3749040" cy="3035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94A3B8"/>
                </a:solidFill>
              </a:rPr>
              <a:t>文章列表 /plans（3 列网格）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94A3B8"/>
                </a:solidFill>
              </a:rPr>
              <a:t>文章详情 /plans/[slug]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94A3B8"/>
                </a:solidFill>
              </a:rPr>
              <a:t>状态：草稿 / 已发布 / 已归档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94A3B8"/>
                </a:solidFill>
              </a:rPr>
              <a:t>热门标记、标签、绩效指标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94A3B8"/>
                </a:solidFill>
              </a:rPr>
              <a:t>关联作者团队与赛事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94A3B8"/>
                </a:solidFill>
              </a:rPr>
              <a:t>会员解锁 或 单篇购买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94A3B8"/>
                </a:solidFill>
              </a:rPr>
              <a:t>市场摘要 + 完整分析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754880" y="1143000"/>
            <a:ext cx="3931920" cy="3566160"/>
          </a:xfrm>
          <a:prstGeom prst="rect">
            <a:avLst/>
          </a:prstGeom>
          <a:solidFill>
            <a:srgbClr val="1E293B"/>
          </a:solidFill>
          <a:ln w="6350">
            <a:solidFill>
              <a:srgbClr val="33415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143000"/>
            <a:ext cx="45720" cy="356616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92040" y="123444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8FAFC"/>
                </a:solidFill>
              </a:rPr>
              <a:t>AI 预测 /ai-predictions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892040" y="1554480"/>
            <a:ext cx="3749040" cy="3035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94A3B8"/>
                </a:solidFill>
              </a:rPr>
              <a:t>模型命中率：62.8%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94A3B8"/>
                </a:solidFill>
              </a:rPr>
              <a:t>平均预期边际：+4.8%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94A3B8"/>
                </a:solidFill>
              </a:rPr>
              <a:t>可解释因子展示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94A3B8"/>
                </a:solidFill>
              </a:rPr>
              <a:t>预测卡片：市场类型、选项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94A3B8"/>
                </a:solidFill>
              </a:rPr>
              <a:t>置信度徽章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94A3B8"/>
                </a:solidFill>
              </a:rPr>
              <a:t>解释文本 + 因子标签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94A3B8"/>
                </a:solidFill>
              </a:rPr>
              <a:t>结果追踪：pending / won / lost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54864" cy="50292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2004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F97316"/>
                </a:solidFill>
              </a:rPr>
              <a:t>MEMBERSHIP &amp; PAYMENT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4360" y="54864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8FAFC"/>
                </a:solidFill>
              </a:rPr>
              <a:t>会员体系 · 支付变现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143000"/>
            <a:ext cx="3931920" cy="3566160"/>
          </a:xfrm>
          <a:prstGeom prst="rect">
            <a:avLst/>
          </a:prstGeom>
          <a:solidFill>
            <a:srgbClr val="1E293B"/>
          </a:solidFill>
          <a:ln w="6350">
            <a:solidFill>
              <a:srgbClr val="33415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43000"/>
            <a:ext cx="45720" cy="356616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23444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8FAFC"/>
                </a:solidFill>
              </a:rPr>
              <a:t>会员中心 /member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94360" y="1554480"/>
            <a:ext cx="3749040" cy="3035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94A3B8"/>
                </a:solidFill>
              </a:rPr>
              <a:t>用户资料（角色、会员状态）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94A3B8"/>
                </a:solidFill>
              </a:rPr>
              <a:t>月度 / 季度 / 年度三档套餐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94A3B8"/>
                </a:solidFill>
              </a:rPr>
              <a:t>订单历史（会员 + 内容订单）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94A3B8"/>
                </a:solidFill>
              </a:rPr>
              <a:t>已解锁内容列表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94A3B8"/>
                </a:solidFill>
              </a:rPr>
              <a:t>支付结果通知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94A3B8"/>
                </a:solidFill>
              </a:rPr>
              <a:t>订单状态：pending → paid / refunded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94A3B8"/>
                </a:solidFill>
              </a:rPr>
              <a:t>支付参考号追踪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754880" y="1143000"/>
            <a:ext cx="3931920" cy="3566160"/>
          </a:xfrm>
          <a:prstGeom prst="rect">
            <a:avLst/>
          </a:prstGeom>
          <a:solidFill>
            <a:srgbClr val="1E293B"/>
          </a:solidFill>
          <a:ln w="6350">
            <a:solidFill>
              <a:srgbClr val="33415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143000"/>
            <a:ext cx="45720" cy="3566160"/>
          </a:xfrm>
          <a:prstGeom prst="rect">
            <a:avLst/>
          </a:prstGeom>
          <a:solidFill>
            <a:srgbClr val="84CC16"/>
          </a:solidFill>
          <a:ln w="12700">
            <a:solidFill>
              <a:srgbClr val="84CC1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92040" y="123444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8FAFC"/>
                </a:solidFill>
              </a:rPr>
              <a:t>支付能力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892040" y="1554480"/>
            <a:ext cx="3749040" cy="3035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94A3B8"/>
                </a:solidFill>
              </a:rPr>
              <a:t>Mock 支付流程（成功/失败/取消）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94A3B8"/>
                </a:solidFill>
              </a:rPr>
              <a:t>POST /api/member/purchase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94A3B8"/>
                </a:solidFill>
              </a:rPr>
              <a:t>POST /api/content/purchase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94A3B8"/>
                </a:solidFill>
              </a:rPr>
              <a:t>管理员退款处理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94A3B8"/>
                </a:solidFill>
              </a:rPr>
              <a:t>订单 CSV 导出（含高级筛选）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94A3B8"/>
                </a:solidFill>
              </a:rPr>
              <a:t>失败原因元数据记录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94A3B8"/>
                </a:solidFill>
              </a:rPr>
              <a:t>真实支付网关（待接入）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54864" cy="50292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2004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F97316"/>
                </a:solidFill>
              </a:rPr>
              <a:t>ADMIN CONSOLE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4360" y="54864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8FAFC"/>
                </a:solidFill>
              </a:rPr>
              <a:t>管理后台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8229600" cy="566928"/>
          </a:xfrm>
          <a:prstGeom prst="rect">
            <a:avLst/>
          </a:prstGeom>
          <a:solidFill>
            <a:srgbClr val="1E293B"/>
          </a:solidFill>
          <a:ln w="6350">
            <a:solidFill>
              <a:srgbClr val="33415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45720" cy="566928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29844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8FAFC"/>
                </a:solidFill>
              </a:rPr>
              <a:t>概览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011680" y="1316736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</a:rPr>
              <a:t>4 个核心指标卡（赛事 / 文章 / 作者 / 预测）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1874520"/>
            <a:ext cx="8229600" cy="566928"/>
          </a:xfrm>
          <a:prstGeom prst="rect">
            <a:avLst/>
          </a:prstGeom>
          <a:solidFill>
            <a:srgbClr val="1E293B"/>
          </a:solidFill>
          <a:ln w="6350">
            <a:solidFill>
              <a:srgbClr val="33415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7200" y="1874520"/>
            <a:ext cx="45720" cy="566928"/>
          </a:xfrm>
          <a:prstGeom prst="rect">
            <a:avLst/>
          </a:prstGeom>
          <a:solidFill>
            <a:srgbClr val="84CC16"/>
          </a:solidFill>
          <a:ln w="12700">
            <a:solidFill>
              <a:srgbClr val="84CC1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98424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8FAFC"/>
                </a:solidFill>
              </a:rPr>
              <a:t>赛事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011680" y="2002536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</a:rPr>
              <a:t>数据同步触发、实时赛事列表（含洞察）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2560320"/>
            <a:ext cx="8229600" cy="566928"/>
          </a:xfrm>
          <a:prstGeom prst="rect">
            <a:avLst/>
          </a:prstGeom>
          <a:solidFill>
            <a:srgbClr val="1E293B"/>
          </a:solidFill>
          <a:ln w="6350">
            <a:solidFill>
              <a:srgbClr val="33415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2560320"/>
            <a:ext cx="45720" cy="56692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267004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8FAFC"/>
                </a:solidFill>
              </a:rPr>
              <a:t>内容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011680" y="2688336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</a:rPr>
              <a:t>作者管理、文章管理（发布/归档/热门）、内容初始化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7200" y="3246120"/>
            <a:ext cx="8229600" cy="566928"/>
          </a:xfrm>
          <a:prstGeom prst="rect">
            <a:avLst/>
          </a:prstGeom>
          <a:solidFill>
            <a:srgbClr val="1E293B"/>
          </a:solidFill>
          <a:ln w="6350">
            <a:solidFill>
              <a:srgbClr val="33415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57200" y="3246120"/>
            <a:ext cx="45720" cy="566928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" y="335584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8FAFC"/>
                </a:solidFill>
              </a:rPr>
              <a:t>用户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2011680" y="3374136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</a:rPr>
              <a:t>用户列表、订单管理、退款、CSV 导出、分页、高级筛选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57200" y="3931920"/>
            <a:ext cx="8229600" cy="566928"/>
          </a:xfrm>
          <a:prstGeom prst="rect">
            <a:avLst/>
          </a:prstGeom>
          <a:solidFill>
            <a:srgbClr val="1E293B"/>
          </a:solidFill>
          <a:ln w="6350">
            <a:solidFill>
              <a:srgbClr val="33415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3931920"/>
            <a:ext cx="45720" cy="566928"/>
          </a:xfrm>
          <a:prstGeom prst="rect">
            <a:avLst/>
          </a:prstGeom>
          <a:solidFill>
            <a:srgbClr val="84CC16"/>
          </a:solidFill>
          <a:ln w="12700">
            <a:solidFill>
              <a:srgbClr val="84CC1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" y="404164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8FAFC"/>
                </a:solidFill>
              </a:rPr>
              <a:t>AI 导入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2011680" y="4059936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</a:rPr>
              <a:t>批量导入 AI 预测（标题 + 备注）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54864" cy="50292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2004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F97316"/>
                </a:solidFill>
              </a:rPr>
              <a:t>AUTH &amp; I18N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4360" y="54864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8FAFC"/>
                </a:solidFill>
              </a:rPr>
              <a:t>认证权限 · 国际化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143000"/>
            <a:ext cx="3931920" cy="3566160"/>
          </a:xfrm>
          <a:prstGeom prst="rect">
            <a:avLst/>
          </a:prstGeom>
          <a:solidFill>
            <a:srgbClr val="1E293B"/>
          </a:solidFill>
          <a:ln w="6350">
            <a:solidFill>
              <a:srgbClr val="33415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43000"/>
            <a:ext cx="45720" cy="356616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23444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8FAFC"/>
                </a:solidFill>
              </a:rPr>
              <a:t>认证与角色体系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94360" y="1554480"/>
            <a:ext cx="3749040" cy="3035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94A3B8"/>
                </a:solidFill>
              </a:rPr>
              <a:t>Cookie 会话（30 天有效期）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94A3B8"/>
                </a:solidFill>
              </a:rPr>
              <a:t>无密码登录（MVP 阶段）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94A3B8"/>
                </a:solidFill>
              </a:rPr>
              <a:t>visitor — 浏览公开内容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94A3B8"/>
                </a:solidFill>
              </a:rPr>
              <a:t>member — 会员中心 + 付费内容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94A3B8"/>
                </a:solidFill>
              </a:rPr>
              <a:t>operator — 内容管理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94A3B8"/>
                </a:solidFill>
              </a:rPr>
              <a:t>admin — 全部权限 + 用户管理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94A3B8"/>
                </a:solidFill>
              </a:rPr>
              <a:t>5 个细粒度权限控制点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754880" y="1143000"/>
            <a:ext cx="3931920" cy="3566160"/>
          </a:xfrm>
          <a:prstGeom prst="rect">
            <a:avLst/>
          </a:prstGeom>
          <a:solidFill>
            <a:srgbClr val="1E293B"/>
          </a:solidFill>
          <a:ln w="6350">
            <a:solidFill>
              <a:srgbClr val="33415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143000"/>
            <a:ext cx="45720" cy="356616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92040" y="123444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8FAFC"/>
                </a:solidFill>
              </a:rPr>
              <a:t>国际化（i18n）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892040" y="1554480"/>
            <a:ext cx="3749040" cy="3035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94A3B8"/>
                </a:solidFill>
              </a:rPr>
              <a:t>英语（en）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94A3B8"/>
                </a:solidFill>
              </a:rPr>
              <a:t>简体中文（zh-CN）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94A3B8"/>
                </a:solidFill>
              </a:rPr>
              <a:t>繁体中文（zh-TW）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94A3B8"/>
                </a:solidFill>
              </a:rPr>
              <a:t>UI 文案、页面文案全覆盖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94A3B8"/>
                </a:solidFill>
              </a:rPr>
              <a:t>角色标签、赛事状态本地化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94A3B8"/>
                </a:solidFill>
              </a:rPr>
              <a:t>日期 / 价格格式化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94A3B8"/>
                </a:solidFill>
              </a:rPr>
              <a:t>Query 参数 → Cookie → 默认值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54864" cy="50292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94360" y="32004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F97316"/>
                </a:solidFill>
              </a:rPr>
              <a:t>STATUS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94360" y="54864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8FAFC"/>
                </a:solidFill>
              </a:rPr>
              <a:t>功能完成度总览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1143000"/>
            <a:ext cx="5029200" cy="3566160"/>
          </a:xfrm>
          <a:prstGeom prst="rect">
            <a:avLst/>
          </a:prstGeom>
          <a:solidFill>
            <a:srgbClr val="1E293B"/>
          </a:solidFill>
          <a:ln w="6350">
            <a:solidFill>
              <a:srgbClr val="33415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43000"/>
            <a:ext cx="45720" cy="3566160"/>
          </a:xfrm>
          <a:prstGeom prst="rect">
            <a:avLst/>
          </a:prstGeom>
          <a:solidFill>
            <a:srgbClr val="84CC16"/>
          </a:solidFill>
          <a:ln w="12700">
            <a:solidFill>
              <a:srgbClr val="84CC1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207008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4CC16"/>
                </a:solidFill>
              </a:rPr>
              <a:t>已完成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94360" y="1508760"/>
            <a:ext cx="47548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94A3B8"/>
                </a:solidFill>
              </a:rPr>
              <a:t>足球 / 篮球 / 板球实时比分板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94A3B8"/>
                </a:solidFill>
              </a:rPr>
              <a:t>板球深度情报（情报/叙事/概览）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94A3B8"/>
                </a:solidFill>
              </a:rPr>
              <a:t>付费内容（文章计划）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94A3B8"/>
                </a:solidFill>
              </a:rPr>
              <a:t>会员订阅体系（3 档）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94A3B8"/>
                </a:solidFill>
              </a:rPr>
              <a:t>AI 预测展示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94A3B8"/>
                </a:solidFill>
              </a:rPr>
              <a:t>管理后台（内容+用户+订单）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94A3B8"/>
                </a:solidFill>
              </a:rPr>
              <a:t>Mock 支付流程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94A3B8"/>
                </a:solidFill>
              </a:rPr>
              <a:t>多语言支持（EN/ZH-CN/ZH-TW）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94A3B8"/>
                </a:solidFill>
              </a:rPr>
              <a:t>基于角色的访问控制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94A3B8"/>
                </a:solidFill>
              </a:rPr>
              <a:t>体育数据库（积分榜/赛程/球队/H2H）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94A3B8"/>
                </a:solidFill>
              </a:rPr>
              <a:t>订单 CSV 导出 &amp; 退款管理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94A3B8"/>
                </a:solidFill>
              </a:rPr>
              <a:t>响应式深色 UI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760720" y="1143000"/>
            <a:ext cx="2926080" cy="3566160"/>
          </a:xfrm>
          <a:prstGeom prst="rect">
            <a:avLst/>
          </a:prstGeom>
          <a:solidFill>
            <a:srgbClr val="1E293B"/>
          </a:solidFill>
          <a:ln w="6350">
            <a:solidFill>
              <a:srgbClr val="33415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760720" y="1143000"/>
            <a:ext cx="45720" cy="356616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897880" y="1207008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待实现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897880" y="1508760"/>
            <a:ext cx="26517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94A3B8"/>
                </a:solidFill>
              </a:rPr>
              <a:t>真实支付网关接入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94A3B8"/>
                </a:solidFill>
              </a:rPr>
              <a:t>自动数据同步调度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94A3B8"/>
                </a:solidFill>
              </a:rPr>
              <a:t>邮件通知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94A3B8"/>
                </a:solidFill>
              </a:rPr>
              <a:t>用户分析仪表盘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4630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8FAFC"/>
                </a:solidFill>
              </a:rPr>
              <a:t>Signal Nine Sports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640080" y="22860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4A3B8"/>
                </a:solidFill>
              </a:rPr>
              <a:t>MVP 已就绪，核心功能全面覆盖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200400" y="2880360"/>
            <a:ext cx="2743200" cy="36576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30175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97316"/>
                </a:solidFill>
              </a:rPr>
              <a:t>感谢您的关注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Signal Nine Sports — 产品功能报告</dc:title>
  <dc:subject>PptxGenJS Presentation</dc:subject>
  <dc:creator>PptxGenJS</dc:creator>
  <cp:lastModifiedBy>PptxGenJS</cp:lastModifiedBy>
  <cp:revision>1</cp:revision>
  <dcterms:created xsi:type="dcterms:W3CDTF">2026-04-02T19:41:42Z</dcterms:created>
  <dcterms:modified xsi:type="dcterms:W3CDTF">2026-04-02T19:41:42Z</dcterms:modified>
</cp:coreProperties>
</file>